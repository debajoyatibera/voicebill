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1371600"/>
            <a:ext cx="182880" cy="4114800"/>
          </a:xfrm>
          <a:prstGeom prst="roundRect">
            <a:avLst/>
          </a:prstGeom>
          <a:solidFill>
            <a:srgbClr val="00F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88720" y="1371600"/>
            <a:ext cx="10058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5400">
                <a:solidFill>
                  <a:srgbClr val="FFFFFF"/>
                </a:solidFill>
                <a:latin typeface="Segoe UI"/>
              </a:defRPr>
            </a:pPr>
            <a:r>
              <a:t>VoiceBill 🎙️🧾</a:t>
            </a:r>
          </a:p>
          <a:p>
            <a:pPr>
              <a:spcBef>
                <a:spcPts val="1200"/>
              </a:spcBef>
              <a:defRPr b="1" sz="2400">
                <a:solidFill>
                  <a:srgbClr val="00F5D4"/>
                </a:solidFill>
              </a:defRPr>
            </a:pPr>
            <a:r>
              <a:t>Multilingual Voice-First Billing &amp; POS App for Indian Street Vendors</a:t>
            </a:r>
          </a:p>
          <a:p>
            <a:pPr>
              <a:spcBef>
                <a:spcPts val="800"/>
              </a:spcBef>
              <a:defRPr sz="1800">
                <a:solidFill>
                  <a:srgbClr val="94A3B8"/>
                </a:solidFill>
              </a:defRPr>
            </a:pPr>
            <a:r>
              <a:t>Empowering 50M+ Vendors with Speech AI, Instant WhatsApp Reports &amp; CSV Spreadsheet Export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88720" y="3931920"/>
            <a:ext cx="4937760" cy="182880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28600"/>
          <a:lstStyle/>
          <a:p>
            <a:pPr algn="ctr">
              <a:defRPr b="1" sz="1400">
                <a:solidFill>
                  <a:srgbClr val="FFB703"/>
                </a:solidFill>
              </a:defRPr>
            </a:pPr>
            <a:r>
              <a:t>TEAM VOICEBILL — HACK SYNTHESIS 3.0</a:t>
            </a:r>
          </a:p>
          <a:p>
            <a:pPr>
              <a:spcBef>
                <a:spcPts val="1000"/>
              </a:spcBef>
              <a:defRPr sz="1600">
                <a:solidFill>
                  <a:srgbClr val="FFFFFF"/>
                </a:solidFill>
              </a:defRPr>
            </a:pPr>
            <a:r>
              <a:t>• Debajoyati Bera (Team Leader)</a:t>
            </a:r>
          </a:p>
          <a:p>
            <a:pPr>
              <a:spcBef>
                <a:spcPts val="600"/>
              </a:spcBef>
              <a:defRPr sz="1600">
                <a:solidFill>
                  <a:srgbClr val="FFFFFF"/>
                </a:solidFill>
              </a:defRPr>
            </a:pPr>
            <a:r>
              <a:t>• Souvik Adak (Team Member)</a:t>
            </a:r>
          </a:p>
          <a:p>
            <a:pPr>
              <a:spcBef>
                <a:spcPts val="800"/>
              </a:spcBef>
              <a:defRPr sz="1200">
                <a:solidFill>
                  <a:srgbClr val="94A3B8"/>
                </a:solidFill>
              </a:defRPr>
            </a:pPr>
            <a:r>
              <a:t>University of Engineering &amp; Management (UEM) Kolkata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0" y="3931920"/>
            <a:ext cx="4754880" cy="182880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00F5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/>
          <a:lstStyle/>
          <a:p>
            <a:pPr algn="ctr">
              <a:defRPr b="1" sz="1400">
                <a:solidFill>
                  <a:srgbClr val="00F5D4"/>
                </a:solidFill>
              </a:defRPr>
            </a:pPr>
            <a:r>
              <a:t>🌐 OPEN INNOVATION — LIVE DEMO</a:t>
            </a:r>
          </a:p>
          <a:p>
            <a:pPr>
              <a:spcBef>
                <a:spcPts val="1200"/>
              </a:spcBef>
              <a:defRPr b="1" sz="1700">
                <a:solidFill>
                  <a:srgbClr val="FFFFFF"/>
                </a:solidFill>
              </a:defRPr>
            </a:pPr>
            <a:r>
              <a:t>https://debajoyatibera.github.io/voicebill/</a:t>
            </a:r>
          </a:p>
          <a:p>
            <a:pPr>
              <a:spcBef>
                <a:spcPts val="1000"/>
              </a:spcBef>
              <a:defRPr sz="1300">
                <a:solidFill>
                  <a:srgbClr val="94A3B8"/>
                </a:solidFill>
              </a:defRPr>
            </a:pPr>
            <a:r>
              <a:t>Tested, Live &amp; Accessible Online on GitHub Pages across Mobile &amp; Desktop browsers!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457200"/>
            <a:ext cx="1645920" cy="73152"/>
          </a:xfrm>
          <a:prstGeom prst="rect">
            <a:avLst/>
          </a:prstGeom>
          <a:solidFill>
            <a:srgbClr val="00F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3200">
                <a:solidFill>
                  <a:srgbClr val="FFFFFF"/>
                </a:solidFill>
                <a:latin typeface="Segoe UI"/>
              </a:defRPr>
            </a:pPr>
            <a:r>
              <a:t>1. The Real-World Problem</a:t>
            </a:r>
          </a:p>
          <a:p>
            <a:pPr>
              <a:spcBef>
                <a:spcPts val="600"/>
              </a:spcBef>
              <a:defRPr sz="1600">
                <a:solidFill>
                  <a:srgbClr val="00B4D8"/>
                </a:solidFill>
                <a:latin typeface="Segoe UI"/>
              </a:defRPr>
            </a:pPr>
            <a:r>
              <a:t>Why 50+ Million Indian Street Vendors Are Excluded from Digital POS Apps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30936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VoiceBill  •  Hack Synthesis 3.0 (UEM Kolkata)  •  Open Innovation  •  debajoyatibera.github.io/voicebill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291840" cy="411480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FF41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74320" rIns="228600"/>
          <a:lstStyle/>
          <a:p>
            <a:pPr algn="ctr">
              <a:defRPr b="1" sz="2000">
                <a:solidFill>
                  <a:srgbClr val="FF416C"/>
                </a:solidFill>
              </a:defRPr>
            </a:pPr>
            <a:r>
              <a:t>⌨️ Touchscreen Typing Friction</a:t>
            </a:r>
          </a:p>
          <a:p>
            <a:pPr>
              <a:spcBef>
                <a:spcPts val="1800"/>
              </a:spcBef>
              <a:defRPr sz="1500">
                <a:solidFill>
                  <a:srgbClr val="FFFFFF"/>
                </a:solidFill>
              </a:defRPr>
            </a:pPr>
            <a:r>
              <a:t>Traditional POS apps require rapid typing on small smartphone keyboards. For vendors cooking tea, handling vegetables, or managing crowded stalls, typing is painfully slow and distracting.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0" y="1645920"/>
            <a:ext cx="3291840" cy="411480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FFB7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74320" rIns="228600"/>
          <a:lstStyle/>
          <a:p>
            <a:pPr algn="ctr">
              <a:defRPr b="1" sz="2000">
                <a:solidFill>
                  <a:srgbClr val="FFB703"/>
                </a:solidFill>
              </a:defRPr>
            </a:pPr>
            <a:r>
              <a:t>🗣️ Literacy &amp; Language Barrier</a:t>
            </a:r>
          </a:p>
          <a:p>
            <a:pPr>
              <a:spcBef>
                <a:spcPts val="1800"/>
              </a:spcBef>
              <a:defRPr sz="1500">
                <a:solidFill>
                  <a:srgbClr val="FFFFFF"/>
                </a:solidFill>
              </a:defRPr>
            </a:pPr>
            <a:r>
              <a:t>Most billing apps force English menu hierarchies or rigid forms. India's hawkers speak natural vernacular dialects (Hindi, Bengali, Indian English) and need an interface that listens to how they speak.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63840" y="1645920"/>
            <a:ext cx="3291840" cy="411480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74320" rIns="228600"/>
          <a:lstStyle/>
          <a:p>
            <a:pPr algn="ctr">
              <a:defRPr b="1" sz="2000">
                <a:solidFill>
                  <a:srgbClr val="00B4D8"/>
                </a:solidFill>
              </a:defRPr>
            </a:pPr>
            <a:r>
              <a:t>📝 Lost Accounting &amp; Disputes</a:t>
            </a:r>
          </a:p>
          <a:p>
            <a:pPr>
              <a:spcBef>
                <a:spcPts val="1800"/>
              </a:spcBef>
              <a:defRPr sz="1500">
                <a:solidFill>
                  <a:srgbClr val="FFFFFF"/>
                </a:solidFill>
              </a:defRPr>
            </a:pPr>
            <a:r>
              <a:t>Vendors rely on mental math or paper chits, resulting in lost daily totals, billing errors, customer disputes, and an inability to track revenue or share records with accountants.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457200"/>
            <a:ext cx="1645920" cy="73152"/>
          </a:xfrm>
          <a:prstGeom prst="rect">
            <a:avLst/>
          </a:prstGeom>
          <a:solidFill>
            <a:srgbClr val="00F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3200">
                <a:solidFill>
                  <a:srgbClr val="FFFFFF"/>
                </a:solidFill>
                <a:latin typeface="Segoe UI"/>
              </a:defRPr>
            </a:pPr>
            <a:r>
              <a:t>2. Our Solution — VoiceBill</a:t>
            </a:r>
          </a:p>
          <a:p>
            <a:pPr>
              <a:spcBef>
                <a:spcPts val="600"/>
              </a:spcBef>
              <a:defRPr sz="1600">
                <a:solidFill>
                  <a:srgbClr val="00B4D8"/>
                </a:solidFill>
                <a:latin typeface="Segoe UI"/>
              </a:defRPr>
            </a:pPr>
            <a:r>
              <a:t>A Keyless, Multilingual Voice-First Billing &amp; Accounting App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30936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VoiceBill  •  Hack Synthesis 3.0 (UEM Kolkata)  •  Open Innovation  •  debajoyatibera.github.io/voicebill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0698480" cy="118872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00F5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228600"/>
          <a:lstStyle/>
          <a:p>
            <a:pPr algn="ctr">
              <a:defRPr b="1" sz="2100">
                <a:solidFill>
                  <a:srgbClr val="FFFFFF"/>
                </a:solidFill>
              </a:defRPr>
            </a:pPr>
            <a:r>
              <a:t>💡 Just speak naturally: "do chai, panch panch rupaye" or "tin samosa, bees rupaye"</a:t>
            </a:r>
          </a:p>
          <a:p>
            <a:pPr>
              <a:spcBef>
                <a:spcPts val="600"/>
              </a:spcBef>
              <a:defRPr sz="1500">
                <a:solidFill>
                  <a:srgbClr val="00F5D4"/>
                </a:solidFill>
              </a:defRPr>
            </a:pPr>
            <a:r>
              <a:t>VoiceBill listens in Hindi, Bengali, or English, uses AI to extract structured items &amp; prices, calculates daily totals out loud, and shares instant business reports with 1-tap.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108960"/>
            <a:ext cx="2514600" cy="283464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228600" rIns="182880"/>
          <a:lstStyle/>
          <a:p>
            <a:pPr algn="ctr">
              <a:defRPr b="1" sz="1800">
                <a:solidFill>
                  <a:srgbClr val="FFB703"/>
                </a:solidFill>
              </a:defRPr>
            </a:pPr>
            <a:r>
              <a:t>1. Tap &amp; Speak</a:t>
            </a:r>
          </a:p>
          <a:p>
            <a:pPr>
              <a:spcBef>
                <a:spcPts val="1400"/>
              </a:spcBef>
              <a:defRPr sz="1400">
                <a:solidFill>
                  <a:srgbClr val="FFFFFF"/>
                </a:solidFill>
              </a:defRPr>
            </a:pPr>
            <a:r>
              <a:t>Tap the glowing mic button and say items &amp; prices in vernacular speech.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29000" y="3108960"/>
            <a:ext cx="2514600" cy="283464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228600" rIns="182880"/>
          <a:lstStyle/>
          <a:p>
            <a:pPr algn="ctr">
              <a:defRPr b="1" sz="1800">
                <a:solidFill>
                  <a:srgbClr val="FFB703"/>
                </a:solidFill>
              </a:defRPr>
            </a:pPr>
            <a:r>
              <a:t>2. AI Intelligence</a:t>
            </a:r>
          </a:p>
          <a:p>
            <a:pPr>
              <a:spcBef>
                <a:spcPts val="1400"/>
              </a:spcBef>
              <a:defRPr sz="1400">
                <a:solidFill>
                  <a:srgbClr val="FFFFFF"/>
                </a:solidFill>
              </a:defRPr>
            </a:pPr>
            <a:r>
              <a:t>Gemini 1.5 Flash AI parses speech into item, quantity &amp; unit price.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3108960"/>
            <a:ext cx="2514600" cy="283464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228600" rIns="182880"/>
          <a:lstStyle/>
          <a:p>
            <a:pPr algn="ctr">
              <a:defRPr b="1" sz="1800">
                <a:solidFill>
                  <a:srgbClr val="FFB703"/>
                </a:solidFill>
              </a:defRPr>
            </a:pPr>
            <a:r>
              <a:t>3. TTS Audio Readback</a:t>
            </a:r>
          </a:p>
          <a:p>
            <a:pPr>
              <a:spcBef>
                <a:spcPts val="1400"/>
              </a:spcBef>
              <a:defRPr sz="1400">
                <a:solidFill>
                  <a:srgbClr val="FFFFFF"/>
                </a:solidFill>
              </a:defRPr>
            </a:pPr>
            <a:r>
              <a:t>Speaks aloud the sale &amp; running daily collection in rupees for instant confirmation.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823960" y="3108960"/>
            <a:ext cx="2514600" cy="283464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228600" rIns="182880"/>
          <a:lstStyle/>
          <a:p>
            <a:pPr algn="ctr">
              <a:defRPr b="1" sz="1800">
                <a:solidFill>
                  <a:srgbClr val="FFB703"/>
                </a:solidFill>
              </a:defRPr>
            </a:pPr>
            <a:r>
              <a:t>4. 1-Tap Export</a:t>
            </a:r>
          </a:p>
          <a:p>
            <a:pPr>
              <a:spcBef>
                <a:spcPts val="1400"/>
              </a:spcBef>
              <a:defRPr sz="1400">
                <a:solidFill>
                  <a:srgbClr val="FFFFFF"/>
                </a:solidFill>
              </a:defRPr>
            </a:pPr>
            <a:r>
              <a:t>Launch WhatsApp report synchronously or download an Excel CSV spreadsheet.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457200"/>
            <a:ext cx="1645920" cy="73152"/>
          </a:xfrm>
          <a:prstGeom prst="rect">
            <a:avLst/>
          </a:prstGeom>
          <a:solidFill>
            <a:srgbClr val="00F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3200">
                <a:solidFill>
                  <a:srgbClr val="FFFFFF"/>
                </a:solidFill>
                <a:latin typeface="Segoe UI"/>
              </a:defRPr>
            </a:pPr>
            <a:r>
              <a:t>3. System Architecture &amp; Keyless Security</a:t>
            </a:r>
          </a:p>
          <a:p>
            <a:pPr>
              <a:spcBef>
                <a:spcPts val="600"/>
              </a:spcBef>
              <a:defRPr sz="1600">
                <a:solidFill>
                  <a:srgbClr val="00B4D8"/>
                </a:solidFill>
                <a:latin typeface="Segoe UI"/>
              </a:defRPr>
            </a:pPr>
            <a:r>
              <a:t>Zero API Keys Exposed on Client — Serverless GCP &amp; Appwrite Proxy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30936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VoiceBill  •  Hack Synthesis 3.0 (UEM Kolkata)  •  Open Innovation  •  debajoyatibera.github.io/voicebill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2514600" cy="393192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00F5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228600"/>
          <a:lstStyle/>
          <a:p>
            <a:pPr algn="ctr">
              <a:defRPr b="1" sz="1600">
                <a:solidFill>
                  <a:srgbClr val="00F5D4"/>
                </a:solidFill>
              </a:defRPr>
            </a:pPr>
            <a:r>
              <a:t>1. CLIENT (Flutter App)</a:t>
            </a:r>
          </a:p>
          <a:p>
            <a:pPr>
              <a:spcBef>
                <a:spcPts val="1400"/>
              </a:spcBef>
              <a:defRPr sz="1400">
                <a:solidFill>
                  <a:srgbClr val="FFFFFF"/>
                </a:solidFill>
              </a:defRPr>
            </a:pPr>
            <a:r>
              <a:t>• Web, Android &amp; iOS</a:t>
            </a:r>
            <a:br/>
            <a:r>
              <a:t>• speech_to_text (Dictation)</a:t>
            </a:r>
            <a:br/>
            <a:r>
              <a:t>• SharedPrefs offline store</a:t>
            </a:r>
            <a:br/>
            <a:r>
              <a:t>• No API keys in bundle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29000" y="1828800"/>
            <a:ext cx="2514600" cy="393192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228600"/>
          <a:lstStyle/>
          <a:p>
            <a:pPr algn="ctr">
              <a:defRPr b="1" sz="1600">
                <a:solidFill>
                  <a:srgbClr val="00B4D8"/>
                </a:solidFill>
              </a:defRPr>
            </a:pPr>
            <a:r>
              <a:t>2. KEYLESS PROXY</a:t>
            </a:r>
          </a:p>
          <a:p>
            <a:pPr>
              <a:spcBef>
                <a:spcPts val="1400"/>
              </a:spcBef>
              <a:defRPr sz="1400">
                <a:solidFill>
                  <a:srgbClr val="FFFFFF"/>
                </a:solidFill>
              </a:defRPr>
            </a:pPr>
            <a:r>
              <a:t>• Serverless Cloud Run / Appwrite</a:t>
            </a:r>
            <a:br/>
            <a:r>
              <a:t>• Uses Application Default Credentials (ADC)</a:t>
            </a:r>
            <a:br/>
            <a:r>
              <a:t>• Rate limits &amp; CORS protection</a:t>
            </a:r>
            <a:br/>
            <a:r>
              <a:t>• Shields secrets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1828800"/>
            <a:ext cx="2514600" cy="393192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FFB7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228600"/>
          <a:lstStyle/>
          <a:p>
            <a:pPr algn="ctr">
              <a:defRPr b="1" sz="1600">
                <a:solidFill>
                  <a:srgbClr val="FFB703"/>
                </a:solidFill>
              </a:defRPr>
            </a:pPr>
            <a:r>
              <a:t>3. AI ENGINE (GCP Vertex AI)</a:t>
            </a:r>
          </a:p>
          <a:p>
            <a:pPr>
              <a:spcBef>
                <a:spcPts val="1400"/>
              </a:spcBef>
              <a:defRPr sz="1400">
                <a:solidFill>
                  <a:srgbClr val="FFFFFF"/>
                </a:solidFill>
              </a:defRPr>
            </a:pPr>
            <a:r>
              <a:t>• Gemini 1.5 Flash</a:t>
            </a:r>
            <a:br/>
            <a:r>
              <a:t>• Natural language parsing</a:t>
            </a:r>
            <a:br/>
            <a:r>
              <a:t>• Returns JSON:</a:t>
            </a:r>
            <a:br/>
            <a:r>
              <a:t>  {item, qty, price, conf}</a:t>
            </a:r>
            <a:br/>
            <a:r>
              <a:t>• Multi-dialect recognition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823960" y="1828800"/>
            <a:ext cx="2514600" cy="393192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FF41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228600"/>
          <a:lstStyle/>
          <a:p>
            <a:pPr algn="ctr">
              <a:defRPr b="1" sz="1600">
                <a:solidFill>
                  <a:srgbClr val="FF416C"/>
                </a:solidFill>
              </a:defRPr>
            </a:pPr>
            <a:r>
              <a:t>4. OUTPUT &amp; EXPORT</a:t>
            </a:r>
          </a:p>
          <a:p>
            <a:pPr>
              <a:spcBef>
                <a:spcPts val="1400"/>
              </a:spcBef>
              <a:defRPr sz="1400">
                <a:solidFill>
                  <a:srgbClr val="FFFFFF"/>
                </a:solidFill>
              </a:defRPr>
            </a:pPr>
            <a:r>
              <a:t>• UI Card with Check badge</a:t>
            </a:r>
            <a:br/>
            <a:r>
              <a:t>• flutter_tts Voice Summary</a:t>
            </a:r>
            <a:br/>
            <a:r>
              <a:t>• Synchronous WhatsApp wa.me link</a:t>
            </a:r>
            <a:br/>
            <a:r>
              <a:t>• HTML5 Blob CSV Download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457200"/>
            <a:ext cx="1645920" cy="73152"/>
          </a:xfrm>
          <a:prstGeom prst="rect">
            <a:avLst/>
          </a:prstGeom>
          <a:solidFill>
            <a:srgbClr val="00F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3200">
                <a:solidFill>
                  <a:srgbClr val="FFFFFF"/>
                </a:solidFill>
                <a:latin typeface="Segoe UI"/>
              </a:defRPr>
            </a:pPr>
            <a:r>
              <a:t>4. Technical Stack &amp; Dependencies</a:t>
            </a:r>
          </a:p>
          <a:p>
            <a:pPr>
              <a:spcBef>
                <a:spcPts val="600"/>
              </a:spcBef>
              <a:defRPr sz="1600">
                <a:solidFill>
                  <a:srgbClr val="00B4D8"/>
                </a:solidFill>
                <a:latin typeface="Segoe UI"/>
              </a:defRPr>
            </a:pPr>
            <a:r>
              <a:t>Modern Cross-Platform Web &amp; Cloud Native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30936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VoiceBill  •  Hack Synthesis 3.0 (UEM Kolkata)  •  Open Innovation  •  debajoyatibera.github.io/voicebill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212080" cy="192024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00F5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/>
          <a:lstStyle/>
          <a:p>
            <a:pPr algn="ctr">
              <a:defRPr b="1" sz="1800">
                <a:solidFill>
                  <a:srgbClr val="00F5D4"/>
                </a:solidFill>
              </a:defRPr>
            </a:pPr>
            <a:r>
              <a:t>📱 Frontend Application</a:t>
            </a:r>
          </a:p>
          <a:p>
            <a:pPr>
              <a:spcBef>
                <a:spcPts val="1000"/>
              </a:spcBef>
              <a:defRPr sz="1400">
                <a:solidFill>
                  <a:srgbClr val="FFFFFF"/>
                </a:solidFill>
              </a:defRPr>
            </a:pPr>
            <a:r>
              <a:t>• Flutter 3 (Web, Android, iOS)</a:t>
            </a:r>
            <a:br/>
            <a:r>
              <a:t>• CanvasKit High-Performance Renderer</a:t>
            </a:r>
            <a:br/>
            <a:r>
              <a:t>• Tree-Shaken Font Icons &amp; Optimized WASM/JS</a:t>
            </a:r>
            <a:br/>
            <a:r>
              <a:t>• Responsive Modal Bottom Sheets &amp; Glassmorphism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212080" cy="192024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/>
          <a:lstStyle/>
          <a:p>
            <a:pPr algn="ctr">
              <a:defRPr b="1" sz="1800">
                <a:solidFill>
                  <a:srgbClr val="00B4D8"/>
                </a:solidFill>
              </a:defRPr>
            </a:pPr>
            <a:r>
              <a:t>☁️ AI &amp; Serverless Backend</a:t>
            </a:r>
          </a:p>
          <a:p>
            <a:pPr>
              <a:spcBef>
                <a:spcPts val="1000"/>
              </a:spcBef>
              <a:defRPr sz="1400">
                <a:solidFill>
                  <a:srgbClr val="FFFFFF"/>
                </a:solidFill>
              </a:defRPr>
            </a:pPr>
            <a:r>
              <a:t>• Google Cloud Platform (GCP) Vertex AI</a:t>
            </a:r>
            <a:br/>
            <a:r>
              <a:t>• Gemini 1.5 Flash Structured JSON Output</a:t>
            </a:r>
            <a:br/>
            <a:r>
              <a:t>• Cloud Run Container / Appwrite Serverless Proxy</a:t>
            </a:r>
            <a:br/>
            <a:r>
              <a:t>• Application Default Credentials (ADC) Security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840480"/>
            <a:ext cx="5212080" cy="192024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FFB7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/>
          <a:lstStyle/>
          <a:p>
            <a:pPr algn="ctr">
              <a:defRPr b="1" sz="1800">
                <a:solidFill>
                  <a:srgbClr val="FFB703"/>
                </a:solidFill>
              </a:defRPr>
            </a:pPr>
            <a:r>
              <a:t>🎙️ Voice &amp; Audio Intelligence</a:t>
            </a:r>
          </a:p>
          <a:p>
            <a:pPr>
              <a:spcBef>
                <a:spcPts val="1000"/>
              </a:spcBef>
              <a:defRPr sz="1400">
                <a:solidFill>
                  <a:srgbClr val="FFFFFF"/>
                </a:solidFill>
              </a:defRPr>
            </a:pPr>
            <a:r>
              <a:t>• speech_to_text (ListenMode.dictation)</a:t>
            </a:r>
            <a:br/>
            <a:r>
              <a:t>• Web Speech API &amp; Native Mobile Audio</a:t>
            </a:r>
            <a:br/>
            <a:r>
              <a:t>• flutter_tts (Text-to-Speech Hindi/Bengali/English)</a:t>
            </a:r>
            <a:br/>
            <a:r>
              <a:t>• Dynamic Speech Pause &amp; Timeout Resiliency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3840480"/>
            <a:ext cx="5212080" cy="192024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FF41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/>
          <a:lstStyle/>
          <a:p>
            <a:pPr algn="ctr">
              <a:defRPr b="1" sz="1800">
                <a:solidFill>
                  <a:srgbClr val="FF416C"/>
                </a:solidFill>
              </a:defRPr>
            </a:pPr>
            <a:r>
              <a:t>📊 Export &amp; Storage Engine</a:t>
            </a:r>
          </a:p>
          <a:p>
            <a:pPr>
              <a:spcBef>
                <a:spcPts val="1000"/>
              </a:spcBef>
              <a:defRPr sz="1400">
                <a:solidFill>
                  <a:srgbClr val="FFFFFF"/>
                </a:solidFill>
              </a:defRPr>
            </a:pPr>
            <a:r>
              <a:t>• url_launcher (Synchronous WhatsApp wa.me)</a:t>
            </a:r>
            <a:br/>
            <a:r>
              <a:t>• dart:html AnchorElement &amp; Blob CSV Excel download</a:t>
            </a:r>
            <a:br/>
            <a:r>
              <a:t>• shared_preferences (Local JSON Daily Tally)</a:t>
            </a:r>
            <a:br/>
            <a:r>
              <a:t>• Clipboard SDK text export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457200"/>
            <a:ext cx="1645920" cy="73152"/>
          </a:xfrm>
          <a:prstGeom prst="rect">
            <a:avLst/>
          </a:prstGeom>
          <a:solidFill>
            <a:srgbClr val="00F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3200">
                <a:solidFill>
                  <a:srgbClr val="FFFFFF"/>
                </a:solidFill>
                <a:latin typeface="Segoe UI"/>
              </a:defRPr>
            </a:pPr>
            <a:r>
              <a:t>5. Key Features &amp; Innovation Highlights</a:t>
            </a:r>
          </a:p>
          <a:p>
            <a:pPr>
              <a:spcBef>
                <a:spcPts val="600"/>
              </a:spcBef>
              <a:defRPr sz="1600">
                <a:solidFill>
                  <a:srgbClr val="00B4D8"/>
                </a:solidFill>
                <a:latin typeface="Segoe UI"/>
              </a:defRPr>
            </a:pPr>
            <a:r>
              <a:t>Designed for Real-World Outdoor Street Markets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30936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VoiceBill  •  Hack Synthesis 3.0 (UEM Kolkata)  •  Open Innovation  •  debajoyatibera.github.io/voicebill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291840" cy="192024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00F5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228600" rIns="182880"/>
          <a:lstStyle/>
          <a:p>
            <a:pPr algn="ctr">
              <a:defRPr b="1" sz="1800">
                <a:solidFill>
                  <a:srgbClr val="FFB703"/>
                </a:solidFill>
              </a:defRPr>
            </a:pPr>
            <a:r>
              <a:t>🎙️ Multilingual Speech POS</a:t>
            </a:r>
          </a:p>
          <a:p>
            <a:pPr>
              <a:spcBef>
                <a:spcPts val="1000"/>
              </a:spcBef>
              <a:defRPr sz="1400">
                <a:solidFill>
                  <a:srgbClr val="FFFFFF"/>
                </a:solidFill>
              </a:defRPr>
            </a:pPr>
            <a:r>
              <a:t>Speaks fluent Hindi, Bengali &amp; Indian English without switching complex keyboards.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0" y="1645920"/>
            <a:ext cx="3291840" cy="192024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228600" rIns="182880"/>
          <a:lstStyle/>
          <a:p>
            <a:pPr algn="ctr">
              <a:defRPr b="1" sz="1800">
                <a:solidFill>
                  <a:srgbClr val="FFB703"/>
                </a:solidFill>
              </a:defRPr>
            </a:pPr>
            <a:r>
              <a:t>⌨️ Noisy Market Fallback</a:t>
            </a:r>
          </a:p>
          <a:p>
            <a:pPr>
              <a:spcBef>
                <a:spcPts val="1000"/>
              </a:spcBef>
              <a:defRPr sz="1400">
                <a:solidFill>
                  <a:srgbClr val="FFFFFF"/>
                </a:solidFill>
              </a:defRPr>
            </a:pPr>
            <a:r>
              <a:t>Type or paste sale dialog for deafeningly loud train stations or festivals.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63840" y="1645920"/>
            <a:ext cx="3291840" cy="192024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00F5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228600" rIns="182880"/>
          <a:lstStyle/>
          <a:p>
            <a:pPr algn="ctr">
              <a:defRPr b="1" sz="1800">
                <a:solidFill>
                  <a:srgbClr val="FFB703"/>
                </a:solidFill>
              </a:defRPr>
            </a:pPr>
            <a:r>
              <a:t>📲 1-Tap WhatsApp Report</a:t>
            </a:r>
          </a:p>
          <a:p>
            <a:pPr>
              <a:spcBef>
                <a:spcPts val="1000"/>
              </a:spcBef>
              <a:defRPr sz="1400">
                <a:solidFill>
                  <a:srgbClr val="FFFFFF"/>
                </a:solidFill>
              </a:defRPr>
            </a:pPr>
            <a:r>
              <a:t>Generates daily markdown sales report and opens WhatsApp synchronously (popup-proof).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840480"/>
            <a:ext cx="3291840" cy="192024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228600" rIns="182880"/>
          <a:lstStyle/>
          <a:p>
            <a:pPr algn="ctr">
              <a:defRPr b="1" sz="1800">
                <a:solidFill>
                  <a:srgbClr val="FFB703"/>
                </a:solidFill>
              </a:defRPr>
            </a:pPr>
            <a:r>
              <a:t>📊 CSV Spreadsheet Export</a:t>
            </a:r>
          </a:p>
          <a:p>
            <a:pPr>
              <a:spcBef>
                <a:spcPts val="1000"/>
              </a:spcBef>
              <a:defRPr sz="1400">
                <a:solidFill>
                  <a:srgbClr val="FFFFFF"/>
                </a:solidFill>
              </a:defRPr>
            </a:pPr>
            <a:r>
              <a:t>Downloads .csv Excel file with 1 click using web-native Blob anchor download.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3840480"/>
            <a:ext cx="3291840" cy="192024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00F5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228600" rIns="182880"/>
          <a:lstStyle/>
          <a:p>
            <a:pPr algn="ctr">
              <a:defRPr b="1" sz="1800">
                <a:solidFill>
                  <a:srgbClr val="FFB703"/>
                </a:solidFill>
              </a:defRPr>
            </a:pPr>
            <a:r>
              <a:t>🔊 Audio TTS Readback</a:t>
            </a:r>
          </a:p>
          <a:p>
            <a:pPr>
              <a:spcBef>
                <a:spcPts val="1000"/>
              </a:spcBef>
              <a:defRPr sz="1400">
                <a:solidFill>
                  <a:srgbClr val="FFFFFF"/>
                </a:solidFill>
              </a:defRPr>
            </a:pPr>
            <a:r>
              <a:t>Speaks aloud the itemized order and updated collection in rupees.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63840" y="3840480"/>
            <a:ext cx="3291840" cy="192024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228600" rIns="182880"/>
          <a:lstStyle/>
          <a:p>
            <a:pPr algn="ctr">
              <a:defRPr b="1" sz="1800">
                <a:solidFill>
                  <a:srgbClr val="FFB703"/>
                </a:solidFill>
              </a:defRPr>
            </a:pPr>
            <a:r>
              <a:t>🔒 Zero-Key Cloud Security</a:t>
            </a:r>
          </a:p>
          <a:p>
            <a:pPr>
              <a:spcBef>
                <a:spcPts val="1000"/>
              </a:spcBef>
              <a:defRPr sz="1400">
                <a:solidFill>
                  <a:srgbClr val="FFFFFF"/>
                </a:solidFill>
              </a:defRPr>
            </a:pPr>
            <a:r>
              <a:t>100% keyless frontend using GCP Application Default Credentials and serverless proxy.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457200"/>
            <a:ext cx="1645920" cy="73152"/>
          </a:xfrm>
          <a:prstGeom prst="rect">
            <a:avLst/>
          </a:prstGeom>
          <a:solidFill>
            <a:srgbClr val="00F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3200">
                <a:solidFill>
                  <a:srgbClr val="FFFFFF"/>
                </a:solidFill>
                <a:latin typeface="Segoe UI"/>
              </a:defRPr>
            </a:pPr>
            <a:r>
              <a:t>6. Live Interactive Demo &amp; UI Showcase</a:t>
            </a:r>
          </a:p>
          <a:p>
            <a:pPr>
              <a:spcBef>
                <a:spcPts val="600"/>
              </a:spcBef>
              <a:defRPr sz="1600">
                <a:solidFill>
                  <a:srgbClr val="00B4D8"/>
                </a:solidFill>
                <a:latin typeface="Segoe UI"/>
              </a:defRPr>
            </a:pPr>
            <a:r>
              <a:t>Experience VoiceBill Live Online — No Installation Needed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30936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VoiceBill  •  Hack Synthesis 3.0 (UEM Kolkata)  •  Open Innovation  •  debajoyatibera.github.io/voicebill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0698480" cy="411480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00F5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365760"/>
          <a:lstStyle/>
          <a:p>
            <a:pPr algn="ctr">
              <a:defRPr b="1" sz="1600">
                <a:solidFill>
                  <a:srgbClr val="FFB703"/>
                </a:solidFill>
              </a:defRPr>
            </a:pPr>
            <a:r>
              <a:t>🌐 LIVE GITHUB PAGES DEPLOYMENT</a:t>
            </a:r>
          </a:p>
          <a:p>
            <a:pPr>
              <a:spcBef>
                <a:spcPts val="1000"/>
              </a:spcBef>
              <a:defRPr b="1" sz="3200">
                <a:solidFill>
                  <a:srgbClr val="FFFFFF"/>
                </a:solidFill>
              </a:defRPr>
            </a:pPr>
            <a:r>
              <a:t>https://debajoyatibera.github.io/voicebill/</a:t>
            </a:r>
          </a:p>
          <a:p>
            <a:pPr>
              <a:spcBef>
                <a:spcPts val="1400"/>
              </a:spcBef>
              <a:defRPr sz="1600">
                <a:solidFill>
                  <a:srgbClr val="94A3B8"/>
                </a:solidFill>
              </a:defRPr>
            </a:pPr>
            <a:r>
              <a:t>We believe in true Open Innovation — our application is fully deployed, tested, and accessible to any judge or street vendor instantly on their smartphone or laptop browser.</a:t>
            </a:r>
          </a:p>
          <a:p>
            <a:pPr>
              <a:spcBef>
                <a:spcPts val="2000"/>
              </a:spcBef>
              <a:defRPr sz="1600">
                <a:solidFill>
                  <a:srgbClr val="00F5D4"/>
                </a:solidFill>
              </a:defRPr>
            </a:pPr>
            <a:r>
              <a:t>✨ Try This 3-Step Test Right Now:</a:t>
            </a:r>
            <a:br/>
            <a:r>
              <a:t>1. Open link &amp; tap the Glowing Mic button at the bottom center.</a:t>
            </a:r>
            <a:br/>
            <a:r>
              <a:t>2. Speak: "do chai, panch panch rupaye" -&gt; see instant AI card creation &amp; hear rupee readback!</a:t>
            </a:r>
            <a:br/>
            <a:r>
              <a:t>3. Tap the green "WhatsApp" button -&gt; see daily sales tally open synchronously in WhatsApp!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457200"/>
            <a:ext cx="1645920" cy="73152"/>
          </a:xfrm>
          <a:prstGeom prst="rect">
            <a:avLst/>
          </a:prstGeom>
          <a:solidFill>
            <a:srgbClr val="00F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3200">
                <a:solidFill>
                  <a:srgbClr val="FFFFFF"/>
                </a:solidFill>
                <a:latin typeface="Segoe UI"/>
              </a:defRPr>
            </a:pPr>
            <a:r>
              <a:t>7. Technical Challenges &amp; Solutions</a:t>
            </a:r>
          </a:p>
          <a:p>
            <a:pPr>
              <a:spcBef>
                <a:spcPts val="600"/>
              </a:spcBef>
              <a:defRPr sz="1600">
                <a:solidFill>
                  <a:srgbClr val="00B4D8"/>
                </a:solidFill>
                <a:latin typeface="Segoe UI"/>
              </a:defRPr>
            </a:pPr>
            <a:r>
              <a:t>Overcoming Real-World Browser, Speech &amp; Cloud Hurdles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30936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VoiceBill  •  Hack Synthesis 3.0 (UEM Kolkata)  •  Open Innovation  •  debajoyatibera.github.io/voicebill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291840" cy="411480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FF41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74320" rIns="228600"/>
          <a:lstStyle/>
          <a:p>
            <a:pPr algn="ctr">
              <a:defRPr b="1" sz="1800">
                <a:solidFill>
                  <a:srgbClr val="FF416C"/>
                </a:solidFill>
              </a:defRPr>
            </a:pPr>
            <a:r>
              <a:t>⚡ WebSpeech API Cutoffs</a:t>
            </a:r>
          </a:p>
          <a:p>
            <a:pPr>
              <a:spcBef>
                <a:spcPts val="1400"/>
              </a:spcBef>
              <a:defRPr sz="1400">
                <a:solidFill>
                  <a:srgbClr val="FFFFFF"/>
                </a:solidFill>
              </a:defRPr>
            </a:pPr>
            <a:r>
              <a:t>Challenge: Web browsers cut off speech recognition during brief pauses in noisy street environments.</a:t>
            </a:r>
            <a:br/>
            <a:br/>
            <a:r>
              <a:t>Solution: Upgraded to ListenMode.dictation, implemented custom 10-second pause timeouts, and added stop-button transcript capture.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0" y="1645920"/>
            <a:ext cx="3291840" cy="411480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FFB7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74320" rIns="228600"/>
          <a:lstStyle/>
          <a:p>
            <a:pPr algn="ctr">
              <a:defRPr b="1" sz="1800">
                <a:solidFill>
                  <a:srgbClr val="FFB703"/>
                </a:solidFill>
              </a:defRPr>
            </a:pPr>
            <a:r>
              <a:t>🔒 Client API Key Exposure</a:t>
            </a:r>
          </a:p>
          <a:p>
            <a:pPr>
              <a:spcBef>
                <a:spcPts val="1400"/>
              </a:spcBef>
              <a:defRPr sz="1400">
                <a:solidFill>
                  <a:srgbClr val="FFFFFF"/>
                </a:solidFill>
              </a:defRPr>
            </a:pPr>
            <a:r>
              <a:t>Challenge: Embedding Gemini AI API keys in client JavaScript bundles leaves them vulnerable to scraping.</a:t>
            </a:r>
            <a:br/>
            <a:br/>
            <a:r>
              <a:t>Solution: Architected a keyless Serverless Cloud Run / Appwrite proxy utilizing GCP Application Default Credentials (ADC).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63840" y="1645920"/>
            <a:ext cx="3291840" cy="411480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00F5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74320" rIns="228600"/>
          <a:lstStyle/>
          <a:p>
            <a:pPr algn="ctr">
              <a:defRPr b="1" sz="1800">
                <a:solidFill>
                  <a:srgbClr val="00F5D4"/>
                </a:solidFill>
              </a:defRPr>
            </a:pPr>
            <a:r>
              <a:t>🚫 Browser Popup Blockers</a:t>
            </a:r>
          </a:p>
          <a:p>
            <a:pPr>
              <a:spcBef>
                <a:spcPts val="1400"/>
              </a:spcBef>
              <a:defRPr sz="1400">
                <a:solidFill>
                  <a:srgbClr val="FFFFFF"/>
                </a:solidFill>
              </a:defRPr>
            </a:pPr>
            <a:r>
              <a:t>Challenge: Awaiting URL check functions before launching WhatsApp caused Chrome/Safari to silently block new tabs.</a:t>
            </a:r>
            <a:br/>
            <a:br/>
            <a:r>
              <a:t>Solution: Refactored export button to call launchUrl() synchronously on direct user click and used HTML Blob for CSV downloads.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457200"/>
            <a:ext cx="1645920" cy="73152"/>
          </a:xfrm>
          <a:prstGeom prst="rect">
            <a:avLst/>
          </a:prstGeom>
          <a:solidFill>
            <a:srgbClr val="00F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3200">
                <a:solidFill>
                  <a:srgbClr val="FFFFFF"/>
                </a:solidFill>
                <a:latin typeface="Segoe UI"/>
              </a:defRPr>
            </a:pPr>
            <a:r>
              <a:t>8. Theme Alignment — Open Innovation</a:t>
            </a:r>
          </a:p>
          <a:p>
            <a:pPr>
              <a:spcBef>
                <a:spcPts val="600"/>
              </a:spcBef>
              <a:defRPr sz="1600">
                <a:solidFill>
                  <a:srgbClr val="00B4D8"/>
                </a:solidFill>
                <a:latin typeface="Segoe UI"/>
              </a:defRPr>
            </a:pPr>
            <a:r>
              <a:t>Why VoiceBill Stands Out in Hack Synthesis 3.0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30936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VoiceBill  •  Hack Synthesis 3.0 (UEM Kolkata)  •  Open Innovation  •  debajoyatibera.github.io/voicebill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0698480" cy="123444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00F5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228600"/>
          <a:lstStyle/>
          <a:p>
            <a:pPr algn="ctr">
              <a:defRPr b="1" sz="2000">
                <a:solidFill>
                  <a:srgbClr val="00F5D4"/>
                </a:solidFill>
              </a:defRPr>
            </a:pPr>
            <a:r>
              <a:t>🇮🇳 Digital Financial Inclusion</a:t>
            </a:r>
          </a:p>
          <a:p>
            <a:pPr>
              <a:spcBef>
                <a:spcPts val="600"/>
              </a:spcBef>
              <a:defRPr sz="1500">
                <a:solidFill>
                  <a:srgbClr val="FFFFFF"/>
                </a:solidFill>
              </a:defRPr>
            </a:pPr>
            <a:r>
              <a:t>Brings India's unorganized street retail economy into digital accounting without requiring literacy or English typing skills.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108960"/>
            <a:ext cx="10698480" cy="123444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228600"/>
          <a:lstStyle/>
          <a:p>
            <a:pPr algn="ctr">
              <a:defRPr b="1" sz="2000">
                <a:solidFill>
                  <a:srgbClr val="00B4D8"/>
                </a:solidFill>
              </a:defRPr>
            </a:pPr>
            <a:r>
              <a:t>💸 Zero Hardware Cost</a:t>
            </a:r>
          </a:p>
          <a:p>
            <a:pPr>
              <a:spcBef>
                <a:spcPts val="600"/>
              </a:spcBef>
              <a:defRPr sz="1500">
                <a:solidFill>
                  <a:srgbClr val="FFFFFF"/>
                </a:solidFill>
              </a:defRPr>
            </a:pPr>
            <a:r>
              <a:t>Runs on any existing budget smartphone or web browser — no expensive POS terminals or barcode scanners required.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572000"/>
            <a:ext cx="10698480" cy="123444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FFB7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228600"/>
          <a:lstStyle/>
          <a:p>
            <a:pPr algn="ctr">
              <a:defRPr b="1" sz="2000">
                <a:solidFill>
                  <a:srgbClr val="FFB703"/>
                </a:solidFill>
              </a:defRPr>
            </a:pPr>
            <a:r>
              <a:t>🤝 Open Source &amp; Modular</a:t>
            </a:r>
          </a:p>
          <a:p>
            <a:pPr>
              <a:spcBef>
                <a:spcPts val="600"/>
              </a:spcBef>
              <a:defRPr sz="1500">
                <a:solidFill>
                  <a:srgbClr val="FFFFFF"/>
                </a:solidFill>
              </a:defRPr>
            </a:pPr>
            <a:r>
              <a:t>Clean MIT licensed Flutter codebase and modular serverless GCP proxy designed for community contributions and scaling.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457200"/>
            <a:ext cx="1645920" cy="73152"/>
          </a:xfrm>
          <a:prstGeom prst="rect">
            <a:avLst/>
          </a:prstGeom>
          <a:solidFill>
            <a:srgbClr val="00F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3200">
                <a:solidFill>
                  <a:srgbClr val="FFFFFF"/>
                </a:solidFill>
                <a:latin typeface="Segoe UI"/>
              </a:defRPr>
            </a:pPr>
            <a:r>
              <a:t>9. Future Roadmap &amp; Vision</a:t>
            </a:r>
          </a:p>
          <a:p>
            <a:pPr>
              <a:spcBef>
                <a:spcPts val="600"/>
              </a:spcBef>
              <a:defRPr sz="1600">
                <a:solidFill>
                  <a:srgbClr val="00B4D8"/>
                </a:solidFill>
                <a:latin typeface="Segoe UI"/>
              </a:defRPr>
            </a:pPr>
            <a:r>
              <a:t>Expanding VoiceBill Across Indian Retail Ecosystems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30936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VoiceBill  •  Hack Synthesis 3.0 (UEM Kolkata)  •  Open Innovation  •  debajoyatibera.github.io/voicebill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291840" cy="411480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00F5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74320" rIns="228600"/>
          <a:lstStyle/>
          <a:p>
            <a:pPr algn="ctr">
              <a:defRPr b="1" sz="1800">
                <a:solidFill>
                  <a:srgbClr val="00F5D4"/>
                </a:solidFill>
              </a:defRPr>
            </a:pPr>
            <a:r>
              <a:t>Phase 1: Advanced Analytics</a:t>
            </a:r>
          </a:p>
          <a:p>
            <a:pPr>
              <a:spcBef>
                <a:spcPts val="1400"/>
              </a:spcBef>
              <a:defRPr sz="1400">
                <a:solidFill>
                  <a:srgbClr val="FFFFFF"/>
                </a:solidFill>
              </a:defRPr>
            </a:pPr>
            <a:r>
              <a:t>• Multi-day &amp; monthly revenue charts</a:t>
            </a:r>
            <a:br/>
            <a:r>
              <a:t>• Peak selling hour visualization</a:t>
            </a:r>
            <a:br/>
            <a:r>
              <a:t>• Item popularity rankings</a:t>
            </a:r>
            <a:br/>
            <a:r>
              <a:t>• Export to Google Drive/Excel cloud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0" y="1645920"/>
            <a:ext cx="3291840" cy="411480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74320" rIns="228600"/>
          <a:lstStyle/>
          <a:p>
            <a:pPr algn="ctr">
              <a:defRPr b="1" sz="1800">
                <a:solidFill>
                  <a:srgbClr val="00B4D8"/>
                </a:solidFill>
              </a:defRPr>
            </a:pPr>
            <a:r>
              <a:t>Phase 2: Hardware POS Integration</a:t>
            </a:r>
          </a:p>
          <a:p>
            <a:pPr>
              <a:spcBef>
                <a:spcPts val="1400"/>
              </a:spcBef>
              <a:defRPr sz="1400">
                <a:solidFill>
                  <a:srgbClr val="FFFFFF"/>
                </a:solidFill>
              </a:defRPr>
            </a:pPr>
            <a:r>
              <a:t>• Bluetooth thermal printer integration</a:t>
            </a:r>
            <a:br/>
            <a:r>
              <a:t>• Print instant paper receipts for customers</a:t>
            </a:r>
            <a:br/>
            <a:r>
              <a:t>• UPI QR code dynamic payment overlay</a:t>
            </a:r>
            <a:br/>
            <a:r>
              <a:t>• Offline-first SQLite sync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63840" y="1645920"/>
            <a:ext cx="3291840" cy="411480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FFB7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74320" rIns="228600"/>
          <a:lstStyle/>
          <a:p>
            <a:pPr algn="ctr">
              <a:defRPr b="1" sz="1800">
                <a:solidFill>
                  <a:srgbClr val="FFB703"/>
                </a:solidFill>
              </a:defRPr>
            </a:pPr>
            <a:r>
              <a:t>Phase 3: WhatsApp Business AI Bot</a:t>
            </a:r>
          </a:p>
          <a:p>
            <a:pPr>
              <a:spcBef>
                <a:spcPts val="1400"/>
              </a:spcBef>
              <a:defRPr sz="1400">
                <a:solidFill>
                  <a:srgbClr val="FFFFFF"/>
                </a:solidFill>
              </a:defRPr>
            </a:pPr>
            <a:r>
              <a:t>• Automated customer receipt messaging via QR scan</a:t>
            </a:r>
            <a:br/>
            <a:r>
              <a:t>• AI vendor chatbot for stock replenishment</a:t>
            </a:r>
            <a:br/>
            <a:r>
              <a:t>• Multilingual voice SMS alerts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